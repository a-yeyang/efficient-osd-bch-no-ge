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66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点：三级硬件复用。①Cascade引入内码BCH是时延净开销来源；②Direct把BCH译码从Conv(BM+Chien)换成查表求根，是最大单项节省；③Lagrange硬件共享，内外码共享syndrome单元(v1)、再共享GF乘法器阵列(v2)。两个config达标路径不同：Config1外码大内码小，仅Direct即达标；Config2内码开销占比重，必须三项齐全才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原理页三部分：①码构造总链路+两组实用码型参数(Config1是KP4以太网FEC缩短码，Config2是均衡型本原码，padding不计入开销)，直接复用图1构造流程图；②内码BCH两条译码路径，Conventional传统BM+Chien 4/8周期，Direct本方案查表求根2/3周期，复用图3译码流程图；③三步矩阵交织抗突发，复现APCC2022论文——预处理RS码字轮转交错、按列写入按行BCH编码、信道按行发送，列宽w有1bit/2bits/1symbol三档权衡。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译码原理页。t=1退化情况：S1=0无错，否则p=log_α(S1)直接查表，2cycle。t=2通用情况分3个cycle：Cycle1算syndrome{S1,S3}；Cycle2变量代换x=S1·Y把Λ_monic(x)变成标准形A(Y)=Y²+Y+k；Cycle3查一个2^m大小的LUT直接得到两个根——关键是char-2域上二次多项式的性质：若Y1是根则Y1+1也是根，所以只需1个LUT不需要2个，LUT可展开为纯组合逻辑1个cycle内完成，不需要Chien那种遍历全部n个位置的搜索。对比Conventional的BM迭代(2t次)+Chien遍历，Direct的关键优势是用代数变换和查表替代了迭代与遍历这两个时延大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拉格朗日硬件共享原理页。先澄清：这里共享的是硬件模块(syndrome计算单元/GF乘法器阵列)，不是拉格朗日插值运算——BCH-Direct用查表，RS仍用BM迭代。v0无共享T=T_BCH+T_RS-BM；v1共享syndrome计算单元(内外码共享α幂表+同一个polynomial evaluator并行算两个syndrome)省1cycle；v2再共享GF乘法器阵列，核心观察是BCH-Direct的Cycle3和RS-BM的Chien搜索时间上不冲突(BCH先完成，RS的BM+Chien在其后)，所以可以分时复用同一套物理乘法器阵列，且阵列共享后握手cycle也能省，再降1cycle。延伸表格：LUT规模和GF域大小的关系，n=127比n=255的LUT小一半、MUX更浅，能把precompute+LUT+修正合并到1cycle，Direct从3cycle降到2cyc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时延计算依据表，把前面原理页的公式代入两组config实际参数。Config1: t_rs=15,t_bch=1，基线2×15+3=33cyc；Cascade v0代入BCH-Conv(t=1)=4cyc得37；Direct代入BCH-Direct(t=1)=2cyc得35；Lagrange v1减1得34；v2再减1得33，正好回到基线，+0.0%。Config2: t_rs=8,t_bch=2，基线2×8+3=19cyc；Cascade v0代入BCH-Conv(t=2)=8cyc得27；Direct代入BCH-Direct(t=2)=3cyc得22；v1减1得21；v2再减1得20，+5.3%刚好达标。这张表和第1页KPI表、结果页柱状图的数字是同一套数字，只是这里显式展开了公式代入过程，回应导师说现有PPT时延部分只有柱状图、要加计算依据表格的意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三张图：①BER-SNR，级联相对纯RS都有0.7~1.0dB编码增益；②矩阵交织在突发信道下的额外增益，p=0.75时最大到+0.34dB；③三创新点(Cascade+Direct+Lagrange)逐项时延贡献柱状图，两个config都能压到10%KPI虚线以下。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时延/复杂度/硬件资源三件事。①时延模型：RS-BM 2t+3周期，BCH-Direct比Conv省一半以上周期；②复杂度：每帧F_2m运算量，Direct和Conv总ops接近，价值在时延不在算力；③硬件资源表：GF乘法器阵列路数、Direct LUT大小(256项/512条目)、ROM存储量、共享后面积节省约62%。结论：Direct+Lagrange共享是唯一同时满足两组config KPI的方案。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A44"/>
          </a:solidFill>
          <a:ln/>
        </p:spPr>
      </p:sp>
      <p:sp>
        <p:nvSpPr>
          <p:cNvPr id="4" name="Text 2"/>
          <p:cNvSpPr/>
          <p:nvPr/>
        </p:nvSpPr>
        <p:spPr>
          <a:xfrm>
            <a:off x="487832" y="283464"/>
            <a:ext cx="506388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600" dirty="0" err="1"/>
              <a:t>低延迟的RS+BCH级联码设计思路</a:t>
            </a:r>
            <a:endParaRPr lang="en-US" altLang="zh-CN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</a:t>
            </a: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外码 RS 抗突发、内码 BCH 纠随机错的级联码能带来编码增益，但 内码译码是级联链路上 </a:t>
            </a:r>
            <a:r>
              <a:rPr lang="en-US" sz="1350" b="1" dirty="0">
                <a:solidFill>
                  <a:srgbClr val="A23E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多出来的时延</a:t>
            </a: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——若不优化，会超过导师给定的 10% 时延 KPI 红线。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5C6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56232"/>
            <a:ext cx="475488" cy="475488"/>
          </a:xfrm>
          <a:prstGeom prst="ellipse">
            <a:avLst/>
          </a:prstGeom>
          <a:solidFill>
            <a:srgbClr val="5C667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1819656"/>
            <a:ext cx="25216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Cascade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49808" y="2313432"/>
            <a:ext cx="30519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引入内码 BCH 兜底信道随机错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代价：级联本身多出一段内码译码时延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(Config1 +4cyc / Config2 +8cyc)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39514" y="2674620"/>
            <a:ext cx="292608" cy="0"/>
          </a:xfrm>
          <a:prstGeom prst="line">
            <a:avLst/>
          </a:prstGeom>
          <a:noFill/>
          <a:ln w="25400">
            <a:solidFill>
              <a:srgbClr val="8A929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68698" y="169164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009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1578" y="1856232"/>
            <a:ext cx="475488" cy="475488"/>
          </a:xfrm>
          <a:prstGeom prst="ellipse">
            <a:avLst/>
          </a:prstGeom>
          <a:solidFill>
            <a:srgbClr val="009A44"/>
          </a:solidFill>
          <a:ln/>
        </p:spPr>
      </p:sp>
      <p:sp>
        <p:nvSpPr>
          <p:cNvPr id="14" name="Text 12"/>
          <p:cNvSpPr/>
          <p:nvPr/>
        </p:nvSpPr>
        <p:spPr>
          <a:xfrm>
            <a:off x="4551578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18506" y="1819656"/>
            <a:ext cx="25216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569866" y="2313432"/>
            <a:ext cx="30519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内码 BCH 译码从 Conv(BM+Chien)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 Direct 查表求根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(Config1 省2cyc / Config2 省5cyc，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最大单项节省)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59573" y="2674620"/>
            <a:ext cx="292608" cy="0"/>
          </a:xfrm>
          <a:prstGeom prst="line">
            <a:avLst/>
          </a:prstGeom>
          <a:noFill/>
          <a:ln w="25400">
            <a:solidFill>
              <a:srgbClr val="8A929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88757" y="169164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EEF8F0"/>
          </a:solidFill>
          <a:ln w="15875">
            <a:solidFill>
              <a:srgbClr val="015C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1637" y="1856232"/>
            <a:ext cx="475488" cy="475488"/>
          </a:xfrm>
          <a:prstGeom prst="ellipse">
            <a:avLst/>
          </a:prstGeom>
          <a:solidFill>
            <a:srgbClr val="015C31"/>
          </a:solidFill>
          <a:ln/>
        </p:spPr>
      </p:sp>
      <p:sp>
        <p:nvSpPr>
          <p:cNvPr id="20" name="Text 18"/>
          <p:cNvSpPr/>
          <p:nvPr/>
        </p:nvSpPr>
        <p:spPr>
          <a:xfrm>
            <a:off x="8371637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38565" y="1819656"/>
            <a:ext cx="25216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Lagrange 共享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389925" y="2313432"/>
            <a:ext cx="30519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内外码共享 syndrome 计算单元(v1，省1cyc)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再共享 GF乘法器阵列(v2，再省1cyc)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BCH↔RS 的握手时延也省掉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913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三个创新点逐项叠加后的 KPI 结果</a:t>
            </a:r>
            <a:endParaRPr lang="en-US" sz="13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42816"/>
          <a:ext cx="11094414" cy="1051560"/>
        </p:xfrm>
        <a:graphic>
          <a:graphicData uri="http://schemas.openxmlformats.org/drawingml/2006/table">
            <a:tbl>
              <a:tblPr/>
              <a:tblGrid>
                <a:gridCol w="1849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Pure RS-BM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+Cascade(Conv)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+Direct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+Lagrange v1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+Lagrange v2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 1 (KP4)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cyc（基线）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23E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 cyc  +12.1%  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15C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 cyc  +6.1%  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15C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 cyc  +3.0%  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15C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cyc  +0.0%  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 2 (n=255)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 cyc（基线）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23E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cyc  +42.1%  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23E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 cyc  +15.8%  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23E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 cyc  +10.5%  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15C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cyc  +5.3%  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48640" y="5440680"/>
            <a:ext cx="11094415" cy="1005840"/>
          </a:xfrm>
          <a:prstGeom prst="roundRect">
            <a:avLst>
              <a:gd name="adj" fmla="val 8182"/>
            </a:avLst>
          </a:prstGeom>
          <a:solidFill>
            <a:srgbClr val="EEF8F0"/>
          </a:solidFill>
          <a:ln w="15875">
            <a:solidFill>
              <a:srgbClr val="14AE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5504688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 config 的达标路径不同：</a:t>
            </a: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 1 外码大(t=15)、内码极小(t=1)，仅 </a:t>
            </a: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 一项</a:t>
            </a: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即可达标；Config 2 时延基数小(19cyc)、内码开销占比更重，必须</a:t>
            </a: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三项创新齐全</a:t>
            </a: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才达标（KPI ≤10%）。外码越大、内码越小，级联时延开销越可忽略。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 · 构造 + 译码 + 交织 + 查表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42145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级联码构造原理与译码原理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76072" y="813816"/>
            <a:ext cx="5599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码构造：外码 RS（符号级）⊕ 内码 BCH（比特级），两组实用码型</a:t>
            </a:r>
            <a:endParaRPr lang="en-US" sz="1300" dirty="0"/>
          </a:p>
        </p:txBody>
      </p:sp>
      <p:pic>
        <p:nvPicPr>
          <p:cNvPr id="5" name="Image 0" descr="/Users/chenshiyang.10/workspace/llosd_reproduction/hard_cascade/docs/ppt_build/crops/fig1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558" y="1170432"/>
            <a:ext cx="6633833" cy="2459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7307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内码 BCH 译码：Conventional（传统）vs Direct（查表求根，本方案）</a:t>
            </a:r>
            <a:endParaRPr lang="en-US" sz="1300" dirty="0"/>
          </a:p>
        </p:txBody>
      </p:sp>
      <p:pic>
        <p:nvPicPr>
          <p:cNvPr id="7" name="Image 1" descr="/Users/chenshiyang.10/workspace/llosd_reproduction/hard_cascade/docs/ppt_build/crops/fig3_bch_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058" y="4032504"/>
            <a:ext cx="7494600" cy="1289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440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抗突发：三步矩阵交织（复现 APCC 2022，接入 Config 1）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5724144"/>
            <a:ext cx="348477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2225">
            <a:solidFill>
              <a:srgbClr val="015C3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76072" y="5724144"/>
            <a:ext cx="34299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Step1 预处理：RS码字符号轮转交错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53458" y="5724144"/>
            <a:ext cx="348477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2225">
            <a:solidFill>
              <a:srgbClr val="009A4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380890" y="5724144"/>
            <a:ext cx="34299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Step2 矩阵交织：按列写入·按行做BCH编码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051706" y="5989320"/>
            <a:ext cx="283464" cy="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158277" y="5724144"/>
            <a:ext cx="348477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2225">
            <a:solidFill>
              <a:srgbClr val="89C99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85709" y="5724144"/>
            <a:ext cx="34299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89C9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Step3 信道传输：矩阵内按行发比特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856525" y="5989320"/>
            <a:ext cx="283464" cy="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A4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7" y="178816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 · BCH Direct 译码 · 查表替代迭代求根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 译码原理：闭式代数变换 + 查表求根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思路：</a:t>
            </a: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BM 译码需迭代 2t 次求错误定位多项式 Λ(x)，再做 Chien 搜索遍历所有位置。Lagendijk 论文指出：t≤4 时，Λ(x) 的根可以用</a:t>
            </a:r>
            <a:r>
              <a:rPr lang="en-US" sz="13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闭式代数变换 + LUT 查表</a:t>
            </a: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直接求出，省掉迭代和遍历。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C66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81328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t=1（退化闭式）：  </a:t>
            </a: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S₁=0 → 无错；否则错误位置 p = log_α(S₁)，直接查 α 幂表后修正 1 个比特。</a:t>
            </a:r>
            <a:r>
              <a:rPr lang="en-US" sz="1250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共 2 cycles：syndrome + (log 查表 + 修正)。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t=2（通用情况）：代数变换分 3 个 cycle 完成求根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345429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5C66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88336"/>
            <a:ext cx="475488" cy="475488"/>
          </a:xfrm>
          <a:prstGeom prst="ellipse">
            <a:avLst/>
          </a:prstGeom>
          <a:solidFill>
            <a:srgbClr val="5C667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98448" y="2633472"/>
            <a:ext cx="25216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Cycle 1 · Syndrome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3090672"/>
            <a:ext cx="305196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 {S₁, S₃}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n 个 GF 乘法器并行求值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（与外码 RS 的 syndrome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可共享同一硬件，见下页）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39514" y="3415284"/>
            <a:ext cx="292608" cy="0"/>
          </a:xfrm>
          <a:prstGeom prst="line">
            <a:avLst/>
          </a:prstGeom>
          <a:noFill/>
          <a:ln w="25400">
            <a:solidFill>
              <a:srgbClr val="8A929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68698" y="2523744"/>
            <a:ext cx="345429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09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1578" y="2688336"/>
            <a:ext cx="475488" cy="475488"/>
          </a:xfrm>
          <a:prstGeom prst="ellipse">
            <a:avLst/>
          </a:prstGeom>
          <a:solidFill>
            <a:srgbClr val="009A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51578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18506" y="2633472"/>
            <a:ext cx="25216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Cycle 2 · 变量代换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69866" y="3090672"/>
            <a:ext cx="305196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Λ_monic(x) = x²+S₁x+(S₁³+S₃)/S₁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 x = S₁·Y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A(Y) = Y²+Y+k,  k=(S₁³+S₃)/S₁³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 次 GF 乘法 + 1 次除法）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59573" y="3415284"/>
            <a:ext cx="292608" cy="0"/>
          </a:xfrm>
          <a:prstGeom prst="line">
            <a:avLst/>
          </a:prstGeom>
          <a:noFill/>
          <a:ln w="25400">
            <a:solidFill>
              <a:srgbClr val="8A929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88757" y="2523744"/>
            <a:ext cx="3454298" cy="1783080"/>
          </a:xfrm>
          <a:prstGeom prst="roundRect">
            <a:avLst>
              <a:gd name="adj" fmla="val 4615"/>
            </a:avLst>
          </a:prstGeom>
          <a:solidFill>
            <a:srgbClr val="EEF8F0"/>
          </a:solidFill>
          <a:ln w="15875">
            <a:solidFill>
              <a:srgbClr val="015C3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71637" y="2688336"/>
            <a:ext cx="475488" cy="475488"/>
          </a:xfrm>
          <a:prstGeom prst="ellipse">
            <a:avLst/>
          </a:prstGeom>
          <a:solidFill>
            <a:srgbClr val="015C31"/>
          </a:solidFill>
          <a:ln/>
        </p:spPr>
      </p:sp>
      <p:sp>
        <p:nvSpPr>
          <p:cNvPr id="23" name="Text 21"/>
          <p:cNvSpPr/>
          <p:nvPr/>
        </p:nvSpPr>
        <p:spPr>
          <a:xfrm>
            <a:off x="8371637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38565" y="2633472"/>
            <a:ext cx="25216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Cycle 3 · LUT 求根+修正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89925" y="3090672"/>
            <a:ext cx="305196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2ᵏ 大小 LUT[k] → (Y₁,Y₂)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Xᵢ = S₁·Yᵢ,  pᵢ = log_α(Xᵢ)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直接翻转错误位（无需 Chien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遍历全部 n 个位置）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517136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EEF8F0"/>
          </a:solidFill>
          <a:ln w="15875">
            <a:solidFill>
              <a:srgbClr val="14AE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59028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关键性质（char-2 域）：</a:t>
            </a: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GF(2ᵏ) 上，若 Y₁ 是 A(Y) 的一个根，则 Y₂ = Y₁+1 也一定是根——这是二次多项式在特征 2 域上的固有性质。因此</a:t>
            </a: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只需一个 2ᵏ 大小的 LUT</a:t>
            </a: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（而非两个独立 LUT）即可同时得到两个根，LUT 可完全展开为组合逻辑，1 个 clock cycle 内完成。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70585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23E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对比：</a:t>
            </a: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Conventional 需 BM 迭代 2t 次求 Λ(x) + Chien 搜索遍历 n 个位置 → t=2 需 8 cycle；Direct 用代数变换替代迭代、单次 LUT 替代遍历 → t=2 仅 3 cycle，t=1 仅 2 cycle。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 · 硬件级联复用 · Lagrange 共享 v1/v2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拉格朗日共享原理：硬件模块复用逐级压缩级联时延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94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</a:t>
            </a: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这里的“拉格朗日共享”指</a:t>
            </a: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硬件模块复用</a:t>
            </a: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（内外码共享同一套 syndrome 计算单元 / GF 乘法器阵列），不是拉格朗日插值运算本身——BCH-Direct 用查表求根，RS 仍用 BM 迭代，共享的是电路，不是算法。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345429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875">
            <a:solidFill>
              <a:srgbClr val="5C6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84406"/>
            <a:ext cx="475488" cy="475488"/>
          </a:xfrm>
          <a:prstGeom prst="ellipse">
            <a:avLst/>
          </a:prstGeom>
          <a:solidFill>
            <a:srgbClr val="5C667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440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8448" y="1645920"/>
            <a:ext cx="25216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 · 无共享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2103120"/>
            <a:ext cx="305196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T_BCH + T_RS-BM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内外码各自独立硬件模块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（各自的 α 幂表、syndrome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计算单元、乘法器阵列）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39514" y="2473452"/>
            <a:ext cx="292608" cy="0"/>
          </a:xfrm>
          <a:prstGeom prst="line">
            <a:avLst/>
          </a:prstGeom>
          <a:noFill/>
          <a:ln w="25400">
            <a:solidFill>
              <a:srgbClr val="8A92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68698" y="1536192"/>
            <a:ext cx="345429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875">
            <a:solidFill>
              <a:srgbClr val="009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1578" y="1601032"/>
            <a:ext cx="475488" cy="475488"/>
          </a:xfrm>
          <a:prstGeom prst="ellipse">
            <a:avLst/>
          </a:prstGeom>
          <a:solidFill>
            <a:srgbClr val="009A44"/>
          </a:solidFill>
          <a:ln/>
        </p:spPr>
      </p:sp>
      <p:sp>
        <p:nvSpPr>
          <p:cNvPr id="13" name="Text 11"/>
          <p:cNvSpPr/>
          <p:nvPr/>
        </p:nvSpPr>
        <p:spPr>
          <a:xfrm>
            <a:off x="4551578" y="158440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18506" y="1645920"/>
            <a:ext cx="25216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· 共享 syndrome 单元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69866" y="2103120"/>
            <a:ext cx="305196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T_BCH + T_RS-BM − 1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内外码共享 α 幂表 +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syndrome 计算单元，同一个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polynomial evaluator 并行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算出 BCH 和 RS 的 syndrome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59573" y="2473452"/>
            <a:ext cx="292608" cy="0"/>
          </a:xfrm>
          <a:prstGeom prst="line">
            <a:avLst/>
          </a:prstGeom>
          <a:noFill/>
          <a:ln w="25400">
            <a:solidFill>
              <a:srgbClr val="8A929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88757" y="1536192"/>
            <a:ext cx="3454298" cy="1874520"/>
          </a:xfrm>
          <a:prstGeom prst="roundRect">
            <a:avLst>
              <a:gd name="adj" fmla="val 4390"/>
            </a:avLst>
          </a:prstGeom>
          <a:solidFill>
            <a:srgbClr val="EEF8F0"/>
          </a:solidFill>
          <a:ln w="15875">
            <a:solidFill>
              <a:srgbClr val="015C3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1637" y="1584406"/>
            <a:ext cx="475488" cy="475488"/>
          </a:xfrm>
          <a:prstGeom prst="ellipse">
            <a:avLst/>
          </a:prstGeom>
          <a:solidFill>
            <a:srgbClr val="015C31"/>
          </a:solidFill>
          <a:ln/>
        </p:spPr>
      </p:sp>
      <p:sp>
        <p:nvSpPr>
          <p:cNvPr id="19" name="Text 17"/>
          <p:cNvSpPr/>
          <p:nvPr/>
        </p:nvSpPr>
        <p:spPr>
          <a:xfrm>
            <a:off x="8379950" y="159271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38565" y="1645920"/>
            <a:ext cx="25216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· 再共享 GF 乘法器阵列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89925" y="2103120"/>
            <a:ext cx="305196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T_BCH + T_RS-BM − 2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BCH-Direct 的 LUT 求根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cycle 与 RS-BM 的 Chien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搜索分时复用同一套物理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乘法器阵列，握手 cycle 也省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39312"/>
            <a:ext cx="11094415" cy="1143000"/>
          </a:xfrm>
          <a:prstGeom prst="roundRect">
            <a:avLst>
              <a:gd name="adj" fmla="val 7200"/>
            </a:avLst>
          </a:prstGeom>
          <a:solidFill>
            <a:srgbClr val="EEF8F0"/>
          </a:solidFill>
          <a:ln w="15875">
            <a:solidFill>
              <a:srgbClr val="14AE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712464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共享的核心观察：</a:t>
            </a:r>
            <a:r>
              <a:rPr lang="en-US" sz="11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BCH-Direct 的 Cycle 3（LUT 查表+错误修正）与 RS-BM 的 Chien 搜索都需要 n 路并行 GF 乘法器阵列，但</a:t>
            </a:r>
            <a:r>
              <a:rPr lang="en-US" sz="118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二者时间上不冲突</a:t>
            </a:r>
            <a:r>
              <a:rPr lang="en-US" sz="11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——BCH Cycle 3 完成后，RS-BM 才开始 BM 迭代，Chien 阶段又在 BM 之后。因此可以让两个阶段分时复用同一套物理乘法器阵列，无需两份硬件；阵列共享后，原本 BCH 输出→RS 输入之间的数据握手 cycle 也可以省掉，再降 1 cycle。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548640" y="4956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延伸：LUT 规模也影响可压缩空间</a:t>
            </a:r>
            <a:endParaRPr lang="en-US" sz="1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30368"/>
          <a:ext cx="11094416" cy="914400"/>
        </p:xfrm>
        <a:graphic>
          <a:graphicData uri="http://schemas.openxmlformats.org/drawingml/2006/table">
            <a:tbl>
              <a:tblPr/>
              <a:tblGrid>
                <a:gridCol w="2773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GF 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LUT 大小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查表 MUX 深度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Direct 总周期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n=255（GF(2⁸)）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 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8-input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cycle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15C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n=127（GF(2⁷)）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 项（减半）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7-input（更浅）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15C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cycle（precompute+LUT+修正合并1cycle）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1" y="237744"/>
            <a:ext cx="2793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时延 · 计算依据 · 公式逐项代入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时延计算依据：公式代入两组 config 得到逐项 cycle 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4241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</a:t>
            </a: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下表把</a:t>
            </a: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前两页原理公式</a:t>
            </a: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（RS-BM(t)=2t+3、BCH-Direct(t)、v0/v1/v2 共享）逐项代入 Config1(KP4) 与 Config2(n=255) 的实际参数，得到与第 1 页 KPI 表、第 6 页柱状图完全对应的 cycle 数——不是仿真测出来的，是公式算出来的。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 1（KP4）：RS(544,514,t=15) + BCH(144,136,t=1)　　|　　Config 2（n=255）：RS(255,239,t=8) + BCH(255,239,t=2)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9601200" cy="26289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Config1 代入 (t_rs=15, t_bch=1)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cyc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Config2 代入 (t_rs=8, t_bch=2)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cyc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Pure RS-BM（基线）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 = 2t_rs+3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2×15+3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2×8+3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+Cascade（BCH-Conv, v0）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 = T_BCH-Conv + T_RS-BM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+ 33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23E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+ 19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23E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+Direct（BCH-Direct, v0）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 = T_BCH-Direct + T_RS-BM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+ 33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23E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+ 19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23E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+Lagrange v1（共享 syndrome）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 = T_BCH-Direct + T_RS-BM − 1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35 − 1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23E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22 − 1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A23E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+Lagrange v2（再共享乘法器阵列）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 = T_BCH-Direct + T_RS-BM − 2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35 − 2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15C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22 − 2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15C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709160"/>
            <a:ext cx="11094415" cy="841248"/>
          </a:xfrm>
          <a:prstGeom prst="roundRect">
            <a:avLst>
              <a:gd name="adj" fmla="val 5806"/>
            </a:avLst>
          </a:prstGeom>
          <a:solidFill>
            <a:srgbClr val="EEF8F0"/>
          </a:solidFill>
          <a:ln w="15875">
            <a:solidFill>
              <a:srgbClr val="14AE6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6"/>
          <p:cNvSpPr/>
          <p:nvPr/>
        </p:nvSpPr>
        <p:spPr>
          <a:xfrm>
            <a:off x="777240" y="4791456"/>
            <a:ext cx="106372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 config 读法不同：</a:t>
            </a: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Config1 基线 33cyc 大、内码 t_bch=1 开销小，Direct 一项代入后 35→34→33，第三步已回到基线（+0.0%），KPI 早早达标；Config2 基线 19cyc 小、内码 t_bch=2 开销占比更重，同样代入 v0/v1/v2 公式，35cyc 起点的 Conv/Direct 差距在小基线下被放大，必须代入到 v2（−2）才压到 20cyc（+5.3%，达标）。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C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T_RS-BM、T_BCH-Conv/Direct 公式见「构造原理」「Direct 译码原理」「拉格朗日共享原理」三页；本页只做数值代入，不重复推导。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仿真结果 · PAM4-AWGN / 突发信道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结果：编码增益、突发抗性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BER-SNR：级联 vs 纯 RS（两组码型）</a:t>
            </a:r>
            <a:endParaRPr lang="en-US" sz="1250" dirty="0"/>
          </a:p>
        </p:txBody>
      </p:sp>
      <p:pic>
        <p:nvPicPr>
          <p:cNvPr id="5" name="Image 0" descr="/Users/chenshiyang.10/workspace/llosd_reproduction/hard_cascade/figures/ber_snr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53312"/>
            <a:ext cx="5486400" cy="2110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50004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BER=10⁻⁴：Config1 级联≈8.9dB vs 纯RS≈9.7dB(+0.7dB)；Config2 级联≈8.6dB vs 纯RS≈9.6dB(+1.0dB)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55080" y="1051560"/>
            <a:ext cx="5287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矩阵交织抗突发增益（vs existing 符号交织）</a:t>
            </a:r>
            <a:endParaRPr lang="en-US" sz="1250" dirty="0"/>
          </a:p>
        </p:txBody>
      </p:sp>
      <p:pic>
        <p:nvPicPr>
          <p:cNvPr id="8" name="Image 1" descr="/Users/chenshiyang.10/workspace/llosd_reproduction/hard_cascade/figures/interleave_gain_v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260" y="1353312"/>
            <a:ext cx="3785616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3493008"/>
            <a:ext cx="5287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AWGN 增益小(+0.09~0.15dB)；突发 p=0.75 增益最大(+0.31~0.34dB)——交织在突发信道下价值最明显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3977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三创新点逐项时延贡献（Cascade → Direct → Lagrange v1/v2）</a:t>
            </a:r>
            <a:endParaRPr lang="en-US" sz="1250" dirty="0"/>
          </a:p>
        </p:txBody>
      </p:sp>
      <p:pic>
        <p:nvPicPr>
          <p:cNvPr id="11" name="Image 2" descr="/Users/chenshiyang.10/workspace/llosd_reproduction/hard_cascade/figures/latency_innovations_v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4612" y="4270248"/>
            <a:ext cx="6062472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09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时延 · 复杂度 · 硬件资源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时延分析、复杂度分析与硬件资源开销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时延模型（clock cycles）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5486400" cy="14173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译码器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时延分解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cyc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RS-BM(t)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syndrome+2t·BM+Chien+Forney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2t+3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BCH-Conv(t=1)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syndrome+ELP+Chien+correct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BCH-Conv(t=2)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1+2t+1+margin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BCH-Direct(t=1)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syndrome+(log查表+修正)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15C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BCH-Direct(t=2)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syndrome+precompute+LUT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15C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971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三档共享：</a:t>
            </a: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T_none→T_v1(−1,共享syndrome)→T_v2(−2,再共享GF乘法器阵列)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63640" y="1051560"/>
            <a:ext cx="5379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复杂度：每帧平均 𝔉₂ₘ 运算量</a:t>
            </a:r>
            <a:endParaRPr lang="en-US" sz="1250" dirty="0"/>
          </a:p>
        </p:txBody>
      </p:sp>
      <p:pic>
        <p:nvPicPr>
          <p:cNvPr id="5" name="Image 0" descr="/Users/chenshiyang.10/workspace/llosd_reproduction/hard_cascade/figures/complexity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35024"/>
            <a:ext cx="3209544" cy="1783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3640" y="3163824"/>
            <a:ext cx="5379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 相对 Conv 省的是周期数(时延)，总运算量(ops)接近——t 小时 Chien 只贡献 O(t) 个乘法。Direct 价值在关键路径深度，不在总运算量。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33375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硬件资源开销：GF 乘法器数量 · LUT 大小</a:t>
            </a:r>
            <a:endParaRPr lang="en-US" sz="12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9312"/>
          <a:ext cx="11094415" cy="196596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1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硬件资源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 1 (KP4, GF(2¹⁰)/GF(2⁸))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 2 (n=255, GF(2⁸))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GF 乘法器阵列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路并行（RS: 544 路 / BCH: 144 路，两级不共享物理阵列——不同域）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n=255 路并行（RS/BCH 同域 GF(2⁸)，v2 可分时复用同一套）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Chien 搜索 + Direct 求值均需并行求值 Λ(α⁻ⁱ)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BCH-Direct LUT 大小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2⁸ = 256 项（t=1 退化为 log 表，非二次查表）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2⁸ = 256 项 ×(2 根/项) = 512 条目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t=2：k=X²+X 索引，存 (X,X+1)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LUT 存储 (ROM/BRAM)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 表 256×8bit ≈ 2 kbit（复用 α 幂表）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256×(2×8bit) ≈ 4 kbit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越小 LUT 越小，MUX 深度越浅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共享后节省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Direct 比 Conv 硬件面积降约 62%（Lagendijk 2026）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同左 + syndrome/乘法器阵列分时复用省 2 cyc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面积节省来自去掉 BM 迭代器 + Chien 专用阵列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A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806440"/>
            <a:ext cx="11094415" cy="777240"/>
          </a:xfrm>
          <a:prstGeom prst="roundRect">
            <a:avLst>
              <a:gd name="adj" fmla="val 10588"/>
            </a:avLst>
          </a:prstGeom>
          <a:solidFill>
            <a:srgbClr val="EEF8F0"/>
          </a:solidFill>
          <a:ln w="15875">
            <a:solidFill>
              <a:srgbClr val="14AE6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77240" y="5870448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5C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 + Lagrange 硬件共享是唯一能同时满足两组 config 10% 时延 KPI 的方案；总运算量(ops)几乎不受 Direct 影响，硬件收益集中在关键路径深度与面积（LUT/乘法器阵列复用），而非算力总量。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2328</Words>
  <Application>Microsoft Macintosh PowerPoint</Application>
  <PresentationFormat>宽屏</PresentationFormat>
  <Paragraphs>217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RS+BCH 级联码硬判决方案</dc:title>
  <dc:subject>PptxGenJS Presentation</dc:subject>
  <dc:creator>陈诗阳</dc:creator>
  <cp:lastModifiedBy>chenshiyang.10</cp:lastModifiedBy>
  <cp:revision>7</cp:revision>
  <dcterms:created xsi:type="dcterms:W3CDTF">2026-07-28T12:12:15Z</dcterms:created>
  <dcterms:modified xsi:type="dcterms:W3CDTF">2026-07-28T12:18:26Z</dcterms:modified>
</cp:coreProperties>
</file>